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9144000" cy="5143500" type="screen16x9"/>
  <p:notesSz cx="6858000" cy="9144000"/>
  <p:embeddedFontLst>
    <p:embeddedFont>
      <p:font typeface="Nunito" pitchFamily="2" charset="77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17EE6FE-822C-4B65-8CF4-FE7DE2234A23}">
  <a:tblStyle styleId="{D17EE6FE-822C-4B65-8CF4-FE7DE2234A2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57"/>
  </p:normalViewPr>
  <p:slideViewPr>
    <p:cSldViewPr snapToGrid="0">
      <p:cViewPr varScale="1">
        <p:scale>
          <a:sx n="197" d="100"/>
          <a:sy n="197" d="100"/>
        </p:scale>
        <p:origin x="256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c19f1e8245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c19f1e8245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c19f1e8245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c19f1e8245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19f1e8245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19f1e8245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c19f1e8245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c19f1e8245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c19f1e8245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c19f1e8245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a97abd1695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a97abd1695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directions to finding the constant or the rate for each situation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title or units to answer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c19f1e8245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c19f1e8245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Andre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Brooklyn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Isaac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Jessica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Angel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a97abd1695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a97abd1695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c19f1e8245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c19f1e8245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directions to finding the constant or the rate for each situation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title or units to answer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c19f1e8245_0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c19f1e8245_0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c19f1e8245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c19f1e8245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c19f1e8245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c19f1e8245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c19f1e8245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c19f1e8245_0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c19f1e8245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c19f1e8245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c19f1e8245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c19f1e8245_0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c19f1e8245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c19f1e8245_0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DcvtwlM1aI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DcvtwlM1aI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DcvtwlM1aI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hyperlink" Target="http://www.youtube.com/watch?v=DcvtwlM1aIE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hyperlink" Target="http://www.youtube.com/watch?v=DcvtwlM1aIE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hyperlink" Target="http://www.youtube.com/watch?v=DcvtwlM1aIE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DcvtwlM1aIE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DcvtwlM1aIE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hyperlink" Target="http://www.youtube.com/watch?v=DcvtwlM1aI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title"/>
          </p:nvPr>
        </p:nvSpPr>
        <p:spPr>
          <a:xfrm>
            <a:off x="514350" y="54080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 to Coding week!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Leaders, co facilitators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determined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diverse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teamwork!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respectful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on task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Everything is recorded!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>
            <a:spLocks noGrp="1"/>
          </p:cNvSpPr>
          <p:nvPr>
            <p:ph type="title"/>
          </p:nvPr>
        </p:nvSpPr>
        <p:spPr>
          <a:xfrm>
            <a:off x="293075" y="412750"/>
            <a:ext cx="8538900" cy="156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Vocabulary check in! </a:t>
            </a:r>
            <a:br>
              <a:rPr lang="en" dirty="0"/>
            </a:br>
            <a:br>
              <a:rPr lang="en" dirty="0"/>
            </a:br>
            <a:r>
              <a:rPr lang="en" dirty="0"/>
              <a:t>Raise your hand to share what you know about these terms: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Distance:</a:t>
            </a:r>
            <a:br>
              <a:rPr lang="en" dirty="0"/>
            </a:b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Time: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Rate: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Distance, Rate and Time in Tables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228600" y="1447800"/>
            <a:ext cx="86034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AutoNum type="alphaLcPeriod"/>
            </a:pPr>
            <a:r>
              <a:rPr lang="en" sz="2500"/>
              <a:t>A police car drives 236 km in 3 hours. </a:t>
            </a:r>
            <a:endParaRPr sz="25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What is its average speed in kilometers per hour?</a:t>
            </a:r>
            <a:endParaRPr sz="25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</p:txBody>
      </p:sp>
      <p:graphicFrame>
        <p:nvGraphicFramePr>
          <p:cNvPr id="150" name="Google Shape;150;p17"/>
          <p:cNvGraphicFramePr/>
          <p:nvPr/>
        </p:nvGraphicFramePr>
        <p:xfrm>
          <a:off x="2437550" y="2725325"/>
          <a:ext cx="4768450" cy="1127700"/>
        </p:xfrm>
        <a:graphic>
          <a:graphicData uri="http://schemas.openxmlformats.org/drawingml/2006/table">
            <a:tbl>
              <a:tblPr>
                <a:noFill/>
                <a:tableStyleId>{D17EE6FE-822C-4B65-8CF4-FE7DE2234A23}</a:tableStyleId>
              </a:tblPr>
              <a:tblGrid>
                <a:gridCol w="23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/>
                        <a:t>Hours</a:t>
                      </a:r>
                      <a:endParaRPr sz="25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/>
                        <a:t>Kilometers</a:t>
                      </a:r>
                      <a:endParaRPr sz="25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/>
                        <a:t>3</a:t>
                      </a:r>
                      <a:endParaRPr sz="25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/>
                        <a:t>236</a:t>
                      </a:r>
                      <a:endParaRPr sz="25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1" name="Google Shape;151;p17"/>
          <p:cNvSpPr/>
          <p:nvPr/>
        </p:nvSpPr>
        <p:spPr>
          <a:xfrm>
            <a:off x="968175" y="2384900"/>
            <a:ext cx="1797900" cy="112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Time always on the left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6866925" y="2470900"/>
            <a:ext cx="1965000" cy="11277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Distance always on the right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3933975" y="3649100"/>
            <a:ext cx="1797900" cy="751200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3081550" y="4400400"/>
            <a:ext cx="32652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highlight>
                  <a:schemeClr val="accent4"/>
                </a:highlight>
                <a:latin typeface="Calibri"/>
                <a:ea typeface="Calibri"/>
                <a:cs typeface="Calibri"/>
                <a:sym typeface="Calibri"/>
              </a:rPr>
              <a:t>Rate / COP / Speed in the middle</a:t>
            </a:r>
            <a:endParaRPr sz="1800">
              <a:solidFill>
                <a:schemeClr val="dk2"/>
              </a:solidFill>
              <a:highlight>
                <a:schemeClr val="accent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185950" y="3943200"/>
            <a:ext cx="32652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highlight>
                  <a:schemeClr val="accent4"/>
                </a:highlight>
                <a:latin typeface="Calibri"/>
                <a:ea typeface="Calibri"/>
                <a:cs typeface="Calibri"/>
                <a:sym typeface="Calibri"/>
              </a:rPr>
              <a:t>y ÷ x = COP</a:t>
            </a:r>
            <a:endParaRPr sz="1800">
              <a:solidFill>
                <a:schemeClr val="dk2"/>
              </a:solidFill>
              <a:highlight>
                <a:schemeClr val="accent4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highlight>
                  <a:schemeClr val="accent4"/>
                </a:highlight>
                <a:latin typeface="Calibri"/>
                <a:ea typeface="Calibri"/>
                <a:cs typeface="Calibri"/>
                <a:sym typeface="Calibri"/>
              </a:rPr>
              <a:t>distance ÷ time = rate </a:t>
            </a:r>
            <a:endParaRPr sz="1800">
              <a:solidFill>
                <a:schemeClr val="dk2"/>
              </a:solidFill>
              <a:highlight>
                <a:schemeClr val="accent4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highlight>
                <a:schemeClr val="accent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Distance, Rate and Time in College</a:t>
            </a:r>
            <a:endParaRPr/>
          </a:p>
        </p:txBody>
      </p:sp>
      <p:pic>
        <p:nvPicPr>
          <p:cNvPr id="161" name="Google Shape;161;p18"/>
          <p:cNvPicPr preferRelativeResize="0"/>
          <p:nvPr/>
        </p:nvPicPr>
        <p:blipFill rotWithShape="1">
          <a:blip r:embed="rId3">
            <a:alphaModFix/>
          </a:blip>
          <a:srcRect l="2270" t="58212" r="8356" b="13732"/>
          <a:stretch/>
        </p:blipFill>
        <p:spPr>
          <a:xfrm>
            <a:off x="582075" y="1886425"/>
            <a:ext cx="7816375" cy="223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>
            <a:spLocks noGrp="1"/>
          </p:cNvSpPr>
          <p:nvPr>
            <p:ph type="ctrTitle"/>
          </p:nvPr>
        </p:nvSpPr>
        <p:spPr>
          <a:xfrm>
            <a:off x="1630103" y="-5967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Rates</a:t>
            </a:r>
            <a:endParaRPr/>
          </a:p>
        </p:txBody>
      </p:sp>
      <p:sp>
        <p:nvSpPr>
          <p:cNvPr id="167" name="Google Shape;167;p19"/>
          <p:cNvSpPr txBox="1">
            <a:spLocks noGrp="1"/>
          </p:cNvSpPr>
          <p:nvPr>
            <p:ph type="subTitle" idx="1"/>
          </p:nvPr>
        </p:nvSpPr>
        <p:spPr>
          <a:xfrm>
            <a:off x="639500" y="10509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#1 Assignment: understanding rates</a:t>
            </a:r>
            <a:endParaRPr sz="2000"/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/>
              <a:t>Solve the problems in #1 using tables or rules</a:t>
            </a:r>
            <a:endParaRPr sz="2000"/>
          </a:p>
          <a:p>
            <a:pPr marL="0" lvl="0" indent="0" algn="ctr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000"/>
              <a:t>Start #2 if you finish early</a:t>
            </a:r>
            <a:endParaRPr sz="2000"/>
          </a:p>
        </p:txBody>
      </p:sp>
      <p:pic>
        <p:nvPicPr>
          <p:cNvPr id="168" name="Google Shape;168;p19" descr="This 10-minute countdown timer is made for professional use and has some minimal sound effects in the last 5 seconds." title="10 MINUTE TIMER - COUNTDOWN TIMER (MINIMAL)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0775" y="203700"/>
            <a:ext cx="3048000" cy="1714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9" name="Google Shape;169;p19"/>
          <p:cNvGraphicFramePr/>
          <p:nvPr/>
        </p:nvGraphicFramePr>
        <p:xfrm>
          <a:off x="5219350" y="2649125"/>
          <a:ext cx="3586850" cy="1127700"/>
        </p:xfrm>
        <a:graphic>
          <a:graphicData uri="http://schemas.openxmlformats.org/drawingml/2006/table">
            <a:tbl>
              <a:tblPr>
                <a:noFill/>
                <a:tableStyleId>{D17EE6FE-822C-4B65-8CF4-FE7DE2234A23}</a:tableStyleId>
              </a:tblPr>
              <a:tblGrid>
                <a:gridCol w="1793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/>
                        <a:t>Hours</a:t>
                      </a:r>
                      <a:endParaRPr sz="25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/>
                        <a:t>Kilometers</a:t>
                      </a:r>
                      <a:endParaRPr sz="25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/>
                        <a:t>3</a:t>
                      </a:r>
                      <a:endParaRPr sz="25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/>
                        <a:t>236</a:t>
                      </a:r>
                      <a:endParaRPr sz="25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0" name="Google Shape;170;p19"/>
          <p:cNvSpPr/>
          <p:nvPr/>
        </p:nvSpPr>
        <p:spPr>
          <a:xfrm>
            <a:off x="6296175" y="3725300"/>
            <a:ext cx="1797900" cy="416100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19"/>
          <p:cNvPicPr preferRelativeResize="0"/>
          <p:nvPr/>
        </p:nvPicPr>
        <p:blipFill rotWithShape="1">
          <a:blip r:embed="rId5">
            <a:alphaModFix/>
          </a:blip>
          <a:srcRect l="2270" t="58212" r="8356" b="13732"/>
          <a:stretch/>
        </p:blipFill>
        <p:spPr>
          <a:xfrm>
            <a:off x="48675" y="2693375"/>
            <a:ext cx="5054321" cy="14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5519950" y="4095600"/>
            <a:ext cx="32652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highlight>
                  <a:schemeClr val="accent4"/>
                </a:highlight>
                <a:latin typeface="Calibri"/>
                <a:ea typeface="Calibri"/>
                <a:cs typeface="Calibri"/>
                <a:sym typeface="Calibri"/>
              </a:rPr>
              <a:t>•78.6</a:t>
            </a:r>
            <a:endParaRPr sz="2200">
              <a:solidFill>
                <a:schemeClr val="dk2"/>
              </a:solidFill>
              <a:highlight>
                <a:schemeClr val="accent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>
            <a:spLocks noGrp="1"/>
          </p:cNvSpPr>
          <p:nvPr>
            <p:ph type="title"/>
          </p:nvPr>
        </p:nvSpPr>
        <p:spPr>
          <a:xfrm>
            <a:off x="819150" y="3884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groups</a:t>
            </a:r>
            <a:endParaRPr/>
          </a:p>
        </p:txBody>
      </p:sp>
      <p:graphicFrame>
        <p:nvGraphicFramePr>
          <p:cNvPr id="178" name="Google Shape;178;p20"/>
          <p:cNvGraphicFramePr/>
          <p:nvPr>
            <p:extLst>
              <p:ext uri="{D42A27DB-BD31-4B8C-83A1-F6EECF244321}">
                <p14:modId xmlns:p14="http://schemas.microsoft.com/office/powerpoint/2010/main" val="1925470484"/>
              </p:ext>
            </p:extLst>
          </p:nvPr>
        </p:nvGraphicFramePr>
        <p:xfrm>
          <a:off x="170400" y="1297025"/>
          <a:ext cx="8661900" cy="2651700"/>
        </p:xfrm>
        <a:graphic>
          <a:graphicData uri="http://schemas.openxmlformats.org/drawingml/2006/table">
            <a:tbl>
              <a:tblPr>
                <a:noFill/>
                <a:tableStyleId>{D17EE6FE-822C-4B65-8CF4-FE7DE2234A23}</a:tableStyleId>
              </a:tblPr>
              <a:tblGrid>
                <a:gridCol w="866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 dirty="0"/>
                        <a:t>  Assign student groups.</a:t>
                      </a:r>
                      <a:endParaRPr sz="25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457200" lvl="0" indent="-3873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500"/>
                        <a:buAutoNum type="arabicPeriod"/>
                      </a:pPr>
                      <a:r>
                        <a:rPr lang="en-US" sz="2500" dirty="0"/>
                        <a:t>Group 1: </a:t>
                      </a:r>
                    </a:p>
                    <a:p>
                      <a:pPr marL="457200" lvl="0" indent="-3873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500"/>
                        <a:buAutoNum type="arabicPeriod"/>
                      </a:pPr>
                      <a:r>
                        <a:rPr lang="en-US" sz="2500" dirty="0"/>
                        <a:t>Group 2:</a:t>
                      </a:r>
                    </a:p>
                    <a:p>
                      <a:pPr marL="457200" lvl="0" indent="-3873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500"/>
                        <a:buAutoNum type="arabicPeriod"/>
                      </a:pPr>
                      <a:r>
                        <a:rPr lang="en-US" sz="2500" dirty="0"/>
                        <a:t>Group 3:</a:t>
                      </a:r>
                    </a:p>
                    <a:p>
                      <a:pPr marL="457200" lvl="0" indent="-3873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500"/>
                        <a:buAutoNum type="arabicPeriod"/>
                      </a:pPr>
                      <a:r>
                        <a:rPr lang="en-US" sz="2500" dirty="0"/>
                        <a:t>Group 4:</a:t>
                      </a:r>
                      <a:br>
                        <a:rPr lang="en-US" sz="2500" dirty="0"/>
                      </a:br>
                      <a:endParaRPr lang="en-US" sz="25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Rates</a:t>
            </a:r>
            <a:endParaRPr/>
          </a:p>
        </p:txBody>
      </p:sp>
      <p:sp>
        <p:nvSpPr>
          <p:cNvPr id="190" name="Google Shape;190;p22"/>
          <p:cNvSpPr txBox="1">
            <a:spLocks noGrp="1"/>
          </p:cNvSpPr>
          <p:nvPr>
            <p:ph type="subTitle" idx="1"/>
          </p:nvPr>
        </p:nvSpPr>
        <p:spPr>
          <a:xfrm>
            <a:off x="1858700" y="31845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500"/>
              <a:t>Check #1 with your team!</a:t>
            </a:r>
            <a:endParaRPr sz="2500"/>
          </a:p>
        </p:txBody>
      </p:sp>
      <p:pic>
        <p:nvPicPr>
          <p:cNvPr id="191" name="Google Shape;191;p22" descr="This 10-minute countdown timer is made for professional use and has some minimal sound effects in the last 5 seconds." title="10 MINUTE TIMER - COUNTDOWN TIMER (MINIMAL)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0775" y="203700"/>
            <a:ext cx="3048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>
            <a:spLocks noGrp="1"/>
          </p:cNvSpPr>
          <p:nvPr>
            <p:ph type="ctrTitle"/>
          </p:nvPr>
        </p:nvSpPr>
        <p:spPr>
          <a:xfrm>
            <a:off x="1630103" y="-5967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Rates</a:t>
            </a:r>
            <a:endParaRPr/>
          </a:p>
        </p:txBody>
      </p:sp>
      <p:sp>
        <p:nvSpPr>
          <p:cNvPr id="197" name="Google Shape;197;p23"/>
          <p:cNvSpPr txBox="1">
            <a:spLocks noGrp="1"/>
          </p:cNvSpPr>
          <p:nvPr>
            <p:ph type="subTitle" idx="1"/>
          </p:nvPr>
        </p:nvSpPr>
        <p:spPr>
          <a:xfrm>
            <a:off x="639500" y="10509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With your team</a:t>
            </a:r>
            <a:endParaRPr sz="2000"/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/>
              <a:t>Solve the problems in #2-3 using tables or rules</a:t>
            </a:r>
            <a:endParaRPr sz="2000"/>
          </a:p>
          <a:p>
            <a:pPr marL="0" lvl="0" indent="0" algn="ctr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000"/>
              <a:t>Complete #4 if finished early</a:t>
            </a:r>
            <a:endParaRPr sz="2000"/>
          </a:p>
        </p:txBody>
      </p:sp>
      <p:pic>
        <p:nvPicPr>
          <p:cNvPr id="198" name="Google Shape;198;p23" descr="This 10-minute countdown timer is made for professional use and has some minimal sound effects in the last 5 seconds." title="10 MINUTE TIMER - COUNTDOWN TIMER (MINIMAL)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0775" y="203700"/>
            <a:ext cx="3048000" cy="1714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9" name="Google Shape;199;p23"/>
          <p:cNvGraphicFramePr/>
          <p:nvPr/>
        </p:nvGraphicFramePr>
        <p:xfrm>
          <a:off x="5219350" y="2649125"/>
          <a:ext cx="3586850" cy="1127700"/>
        </p:xfrm>
        <a:graphic>
          <a:graphicData uri="http://schemas.openxmlformats.org/drawingml/2006/table">
            <a:tbl>
              <a:tblPr>
                <a:noFill/>
                <a:tableStyleId>{D17EE6FE-822C-4B65-8CF4-FE7DE2234A23}</a:tableStyleId>
              </a:tblPr>
              <a:tblGrid>
                <a:gridCol w="1793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/>
                        <a:t>Time</a:t>
                      </a:r>
                      <a:endParaRPr sz="25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/>
                        <a:t>Distance</a:t>
                      </a:r>
                      <a:endParaRPr sz="25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/>
                        <a:t>3</a:t>
                      </a:r>
                      <a:endParaRPr sz="25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/>
                        <a:t>236</a:t>
                      </a:r>
                      <a:endParaRPr sz="25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0" name="Google Shape;200;p23"/>
          <p:cNvSpPr/>
          <p:nvPr/>
        </p:nvSpPr>
        <p:spPr>
          <a:xfrm>
            <a:off x="6296175" y="3725300"/>
            <a:ext cx="1797900" cy="416100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23"/>
          <p:cNvPicPr preferRelativeResize="0"/>
          <p:nvPr/>
        </p:nvPicPr>
        <p:blipFill rotWithShape="1">
          <a:blip r:embed="rId5">
            <a:alphaModFix/>
          </a:blip>
          <a:srcRect l="2270" t="58212" r="8356" b="13732"/>
          <a:stretch/>
        </p:blipFill>
        <p:spPr>
          <a:xfrm>
            <a:off x="48675" y="2693375"/>
            <a:ext cx="5054321" cy="14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3"/>
          <p:cNvSpPr txBox="1"/>
          <p:nvPr/>
        </p:nvSpPr>
        <p:spPr>
          <a:xfrm>
            <a:off x="5519950" y="4095600"/>
            <a:ext cx="32652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highlight>
                  <a:schemeClr val="accent4"/>
                </a:highlight>
                <a:latin typeface="Calibri"/>
                <a:ea typeface="Calibri"/>
                <a:cs typeface="Calibri"/>
                <a:sym typeface="Calibri"/>
              </a:rPr>
              <a:t>•78.6</a:t>
            </a:r>
            <a:endParaRPr sz="2200">
              <a:solidFill>
                <a:schemeClr val="dk2"/>
              </a:solidFill>
              <a:highlight>
                <a:schemeClr val="accent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>
            <a:spLocks noGrp="1"/>
          </p:cNvSpPr>
          <p:nvPr>
            <p:ph type="ctrTitle"/>
          </p:nvPr>
        </p:nvSpPr>
        <p:spPr>
          <a:xfrm>
            <a:off x="791899" y="984625"/>
            <a:ext cx="63090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Handout!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 the tables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equations y = COP•x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9" name="Google Shape;2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9963" y="2282775"/>
            <a:ext cx="3705225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descr="This 10-minute countdown timer is made for professional use and has some minimal sound effects in the last 5 seconds." title="10 MINUTE TIMER - COUNTDOWN TIMER (MINIMAL)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775" y="3175500"/>
            <a:ext cx="3048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"/>
          <p:cNvSpPr txBox="1">
            <a:spLocks noGrp="1"/>
          </p:cNvSpPr>
          <p:nvPr>
            <p:ph type="ctrTitle"/>
          </p:nvPr>
        </p:nvSpPr>
        <p:spPr>
          <a:xfrm>
            <a:off x="791899" y="984625"/>
            <a:ext cx="63090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with your team!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5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7" name="Google Shape;21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9963" y="2282775"/>
            <a:ext cx="3705225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5" descr="This 10-minute countdown timer is made for professional use and has some minimal sound effects in the last 5 seconds." title="10 MINUTE TIMER - COUNTDOWN TIMER (MINIMAL)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775" y="3175500"/>
            <a:ext cx="3048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Diverse Story! </a:t>
            </a:r>
            <a:endParaRPr/>
          </a:p>
        </p:txBody>
      </p:sp>
      <p:sp>
        <p:nvSpPr>
          <p:cNvPr id="224" name="Google Shape;224;p26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7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1" name="Google Shape;23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87401"/>
            <a:ext cx="9143999" cy="2321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7" descr="This 10-minute countdown timer is made for professional use and has some minimal sound effects in the last 5 seconds." title="10 MINUTE TIMER - COUNTDOWN TIMER (MINIMAL)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00" y="-33900"/>
            <a:ext cx="3048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8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9" name="Google Shape;239;p28" descr="This 10-minute countdown timer is made for professional use and has some minimal sound effects in the last 5 seconds." title="10 MINUTE TIMER - COUNTDOWN TIMER (MINIMAL)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0" y="-33900"/>
            <a:ext cx="30480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826062"/>
            <a:ext cx="9143999" cy="149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29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7" name="Google Shape;247;p29" descr="This 10-minute countdown timer is made for professional use and has some minimal sound effects in the last 5 seconds." title="10 MINUTE TIMER - COUNTDOWN TIMER (MINIMAL)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0" y="-33900"/>
            <a:ext cx="30480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138" y="335888"/>
            <a:ext cx="4733925" cy="406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30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5" name="Google Shape;25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126" y="0"/>
            <a:ext cx="7510024" cy="466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0" descr="This 10-minute countdown timer is made for professional use and has some minimal sound effects in the last 5 seconds." title="10 MINUTE TIMER - COUNTDOWN TIMER (MINIMAL)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9800" y="3395100"/>
            <a:ext cx="3048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267</Words>
  <Application>Microsoft Macintosh PowerPoint</Application>
  <PresentationFormat>On-screen Show (16:9)</PresentationFormat>
  <Paragraphs>76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Nunito</vt:lpstr>
      <vt:lpstr>Calibri</vt:lpstr>
      <vt:lpstr>Shift</vt:lpstr>
      <vt:lpstr>Welcome to Coding week!   Be Leaders, co facilitators  Be determined   Be diverse  Show teamwork! </vt:lpstr>
      <vt:lpstr>Be respectful  Be on task   Everything is recorded! </vt:lpstr>
      <vt:lpstr>Vocabulary check in!   Raise your hand to share what you know about these terms:  Distance:  Time:  Rate:</vt:lpstr>
      <vt:lpstr>Distance, Rate and Time in Tables</vt:lpstr>
      <vt:lpstr>Distance, Rate and Time in College</vt:lpstr>
      <vt:lpstr>Computing Rates</vt:lpstr>
      <vt:lpstr>Coding groups</vt:lpstr>
      <vt:lpstr>Computing Rates</vt:lpstr>
      <vt:lpstr>Computing Rates</vt:lpstr>
      <vt:lpstr>New Handout!  Complete the tables Write equations y = COP•x Graph </vt:lpstr>
      <vt:lpstr>Check with your team! </vt:lpstr>
      <vt:lpstr>Diverse Story!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Microsoft Office User</cp:lastModifiedBy>
  <cp:revision>2</cp:revision>
  <dcterms:modified xsi:type="dcterms:W3CDTF">2026-07-22T17:26:03Z</dcterms:modified>
</cp:coreProperties>
</file>