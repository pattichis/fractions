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5"/>
  </p:notesMasterIdLst>
  <p:sldIdLst>
    <p:sldId id="256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9144000" cy="5143500" type="screen16x9"/>
  <p:notesSz cx="6858000" cy="9144000"/>
  <p:embeddedFontLst>
    <p:embeddedFont>
      <p:font typeface="Nunito" pitchFamily="2" charset="77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6580D9-9CCD-4062-B559-2694365C4B3B}">
  <a:tblStyle styleId="{176580D9-9CCD-4062-B559-2694365C4B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57"/>
  </p:normalViewPr>
  <p:slideViewPr>
    <p:cSldViewPr snapToGrid="0">
      <p:cViewPr varScale="1">
        <p:scale>
          <a:sx n="197" d="100"/>
          <a:sy n="197" d="100"/>
        </p:scale>
        <p:origin x="256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6b6cc548e4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6b6cc548e4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Andre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Brooklyn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Isaac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Jessica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Angel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6b6cc548e4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6b6cc548e4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6b6cc548e4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6b6cc548e4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a97abd169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a97abd169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6b6cc548e4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6b6cc548e4_0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6b6cc548e4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6b6cc548e4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directions to finding the constant or the rate for each situation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title or units to answer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a97abd169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a97abd1695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directions to finding the constant or the rate for each situation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title or units to answer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97abd1695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97abd1695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a97abd1695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a97abd1695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a97abd169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a97abd1695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6b6ff8f09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6b6ff8f09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4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" name="Google Shape;59;p14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60" name="Google Shape;60;p14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63;p14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64" name="Google Shape;64;p14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68" name="Google Shape;68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72" name="Google Shape;72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76" name="Google Shape;76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4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15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85" name="Google Shape;85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15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89" name="Google Shape;89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0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" name="Google Shape;125;p20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126" name="Google Shape;126;p20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0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0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2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0" name="Google Shape;130;p20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131" name="Google Shape;131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" name="Google Shape;134;p20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135" name="Google Shape;135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20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47" name="Google Shape;147;p2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" name="Google Shape;156;p23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57" name="Google Shape;157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" name="Google Shape;160;p2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61" name="Google Shape;161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" name="Google Shape;164;p23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5" name="Google Shape;165;p23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DcvtwlM1aI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wHPmw7pPFIU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Vpa3-aRGqa4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DcvtwlM1aI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DcvtwlM1aI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DcvtwlM1aI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DcvtwlM1aI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>
            <a:spLocks noGrp="1"/>
          </p:cNvSpPr>
          <p:nvPr>
            <p:ph type="title"/>
          </p:nvPr>
        </p:nvSpPr>
        <p:spPr>
          <a:xfrm>
            <a:off x="819150" y="3884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groups</a:t>
            </a:r>
            <a:endParaRPr/>
          </a:p>
        </p:txBody>
      </p:sp>
      <p:graphicFrame>
        <p:nvGraphicFramePr>
          <p:cNvPr id="174" name="Google Shape;174;p25"/>
          <p:cNvGraphicFramePr/>
          <p:nvPr>
            <p:extLst>
              <p:ext uri="{D42A27DB-BD31-4B8C-83A1-F6EECF244321}">
                <p14:modId xmlns:p14="http://schemas.microsoft.com/office/powerpoint/2010/main" val="2025092706"/>
              </p:ext>
            </p:extLst>
          </p:nvPr>
        </p:nvGraphicFramePr>
        <p:xfrm>
          <a:off x="170400" y="1297025"/>
          <a:ext cx="5121950" cy="2270700"/>
        </p:xfrm>
        <a:graphic>
          <a:graphicData uri="http://schemas.openxmlformats.org/drawingml/2006/table">
            <a:tbl>
              <a:tblPr>
                <a:noFill/>
                <a:tableStyleId>{176580D9-9CCD-4062-B559-2694365C4B3B}</a:tableStyleId>
              </a:tblPr>
              <a:tblGrid>
                <a:gridCol w="512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 dirty="0"/>
                        <a:t>Assign student groups.</a:t>
                      </a:r>
                      <a:endParaRPr sz="25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457200" lvl="0" indent="-3873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500"/>
                        <a:buAutoNum type="arabicPeriod"/>
                      </a:pPr>
                      <a:r>
                        <a:rPr lang="en" sz="2500" dirty="0">
                          <a:highlight>
                            <a:srgbClr val="D9EAD3"/>
                          </a:highlight>
                        </a:rPr>
                        <a:t>Group 1:</a:t>
                      </a:r>
                      <a:endParaRPr sz="2500" dirty="0"/>
                    </a:p>
                    <a:p>
                      <a:pPr marL="457200" lvl="0" indent="-3873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500"/>
                        <a:buAutoNum type="arabicPeriod"/>
                      </a:pPr>
                      <a:r>
                        <a:rPr lang="en" sz="2500" dirty="0">
                          <a:highlight>
                            <a:srgbClr val="D9EAD3"/>
                          </a:highlight>
                        </a:rPr>
                        <a:t>Group 2:</a:t>
                      </a:r>
                    </a:p>
                    <a:p>
                      <a:pPr marL="457200" lvl="0" indent="-3873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500"/>
                        <a:buAutoNum type="arabicPeriod"/>
                      </a:pPr>
                      <a:r>
                        <a:rPr lang="en" sz="2500" dirty="0">
                          <a:highlight>
                            <a:srgbClr val="D9EAD3"/>
                          </a:highlight>
                        </a:rPr>
                        <a:t>Group 3:</a:t>
                      </a:r>
                      <a:endParaRPr sz="2500" dirty="0"/>
                    </a:p>
                    <a:p>
                      <a:pPr marL="457200" lvl="0" indent="-3873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500"/>
                        <a:buAutoNum type="arabicPeriod"/>
                      </a:pPr>
                      <a:r>
                        <a:rPr lang="en" sz="2500" dirty="0">
                          <a:highlight>
                            <a:srgbClr val="D9EAD3"/>
                          </a:highlight>
                        </a:rPr>
                        <a:t>Group 4:</a:t>
                      </a:r>
                      <a:endParaRPr sz="25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5" name="Google Shape;175;p25"/>
          <p:cNvSpPr txBox="1"/>
          <p:nvPr/>
        </p:nvSpPr>
        <p:spPr>
          <a:xfrm>
            <a:off x="5753600" y="642125"/>
            <a:ext cx="3100200" cy="36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Entry question:</a:t>
            </a:r>
            <a:endParaRPr sz="3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How could coding help us check our work from yesterday?</a:t>
            </a:r>
            <a:endParaRPr sz="3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>
            <a:spLocks noGrp="1"/>
          </p:cNvSpPr>
          <p:nvPr>
            <p:ph type="title"/>
          </p:nvPr>
        </p:nvSpPr>
        <p:spPr>
          <a:xfrm>
            <a:off x="514350" y="54080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to Coding week!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Leaders, co facilitators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determined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diverse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teamwork! = share the trackpad and the keyboard, everyone tries!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respectful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on task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Everything is recorded!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Variables</a:t>
            </a:r>
            <a:endParaRPr/>
          </a:p>
        </p:txBody>
      </p:sp>
      <p:sp>
        <p:nvSpPr>
          <p:cNvPr id="208" name="Google Shape;208;p3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780"/>
              <a:t>Assignment: understanding comments and variables</a:t>
            </a:r>
            <a:endParaRPr sz="3180"/>
          </a:p>
          <a:p>
            <a:pPr marL="0" lvl="0" indent="0" algn="ctr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endParaRPr sz="2780"/>
          </a:p>
          <a:p>
            <a:pPr marL="0" lvl="0" indent="0" algn="ctr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SzPts val="935"/>
              <a:buNone/>
            </a:pPr>
            <a:r>
              <a:rPr lang="en" sz="2780"/>
              <a:t>Print different numbers by storing them in a variable</a:t>
            </a:r>
            <a:endParaRPr sz="2780"/>
          </a:p>
        </p:txBody>
      </p:sp>
      <p:pic>
        <p:nvPicPr>
          <p:cNvPr id="209" name="Google Shape;209;p31" descr="This 10-minute countdown timer is made for professional use and has some minimal sound effects in the last 5 seconds." title="10 MINUTE TIMER - COUNTDOWN TIMER (MINIMAL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0775" y="203700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Strings</a:t>
            </a:r>
            <a:endParaRPr/>
          </a:p>
        </p:txBody>
      </p:sp>
      <p:sp>
        <p:nvSpPr>
          <p:cNvPr id="215" name="Google Shape;215;p3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Assignment: understanding strings</a:t>
            </a:r>
            <a:endParaRPr/>
          </a:p>
          <a:p>
            <a:pPr marL="0" lvl="0" indent="0" algn="ctr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Print different messages by storing them in a string</a:t>
            </a:r>
            <a:endParaRPr/>
          </a:p>
        </p:txBody>
      </p:sp>
      <p:pic>
        <p:nvPicPr>
          <p:cNvPr id="216" name="Google Shape;216;p32" descr="This 6-minute countdown timer is made for professional use and has some minimal sound effects in the last 5 seconds." title="6 MINUTE TIMER - COUNTDOWN TIMER (MINIMAL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7725" y="101850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interpretation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 the front and back questions on the handout for the example video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Pay attention to the mathematical thinking that is behind the video!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222" name="Google Shape;222;p33" descr="Clean designed Countdown Timer for 15 Minutes on a white background with 4K resolution.&#10;Nice to use for playing games, Zoom conference calls, cooking, working out and many things more!&#10;&#10;____________________________________&#10;Have a request for a special timer or design? &#10;Let me know in the comment section.&#10;&#10;____________________________________&#10;Don't forget to subscribe to my channel and hit the notification bell. Thanks!" title="15 Minutes Countdown Timer 4K (no sound) - White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6400" y="85700"/>
            <a:ext cx="2818000" cy="158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 txBox="1">
            <a:spLocks noGrp="1"/>
          </p:cNvSpPr>
          <p:nvPr>
            <p:ph type="ctrTitle"/>
          </p:nvPr>
        </p:nvSpPr>
        <p:spPr>
          <a:xfrm>
            <a:off x="1630103" y="-5967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Rates</a:t>
            </a:r>
            <a:endParaRPr/>
          </a:p>
        </p:txBody>
      </p:sp>
      <p:sp>
        <p:nvSpPr>
          <p:cNvPr id="228" name="Google Shape;228;p34"/>
          <p:cNvSpPr txBox="1">
            <a:spLocks noGrp="1"/>
          </p:cNvSpPr>
          <p:nvPr>
            <p:ph type="subTitle" idx="1"/>
          </p:nvPr>
        </p:nvSpPr>
        <p:spPr>
          <a:xfrm>
            <a:off x="639500" y="10509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#1 Assignment: understanding rates</a:t>
            </a:r>
            <a:endParaRPr sz="2000"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/>
              <a:t>Solve the problems in #1 using tables or rules</a:t>
            </a:r>
            <a:endParaRPr sz="2000"/>
          </a:p>
          <a:p>
            <a:pPr marL="0" lvl="0" indent="0" algn="ctr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000"/>
              <a:t>Start #2 if you finish early</a:t>
            </a:r>
            <a:endParaRPr sz="2000"/>
          </a:p>
        </p:txBody>
      </p:sp>
      <p:graphicFrame>
        <p:nvGraphicFramePr>
          <p:cNvPr id="229" name="Google Shape;229;p34"/>
          <p:cNvGraphicFramePr/>
          <p:nvPr/>
        </p:nvGraphicFramePr>
        <p:xfrm>
          <a:off x="5219350" y="2649125"/>
          <a:ext cx="3586850" cy="1127700"/>
        </p:xfrm>
        <a:graphic>
          <a:graphicData uri="http://schemas.openxmlformats.org/drawingml/2006/table">
            <a:tbl>
              <a:tblPr>
                <a:noFill/>
                <a:tableStyleId>{176580D9-9CCD-4062-B559-2694365C4B3B}</a:tableStyleId>
              </a:tblPr>
              <a:tblGrid>
                <a:gridCol w="1793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Hours</a:t>
                      </a:r>
                      <a:endParaRPr sz="2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Kilometers</a:t>
                      </a:r>
                      <a:endParaRPr sz="25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3</a:t>
                      </a:r>
                      <a:endParaRPr sz="2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236</a:t>
                      </a:r>
                      <a:endParaRPr sz="25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0" name="Google Shape;230;p34"/>
          <p:cNvSpPr/>
          <p:nvPr/>
        </p:nvSpPr>
        <p:spPr>
          <a:xfrm>
            <a:off x="6296175" y="3725300"/>
            <a:ext cx="1797900" cy="41610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34"/>
          <p:cNvPicPr preferRelativeResize="0"/>
          <p:nvPr/>
        </p:nvPicPr>
        <p:blipFill rotWithShape="1">
          <a:blip r:embed="rId3">
            <a:alphaModFix/>
          </a:blip>
          <a:srcRect l="2270" t="58212" r="8356" b="13732"/>
          <a:stretch/>
        </p:blipFill>
        <p:spPr>
          <a:xfrm>
            <a:off x="48675" y="2693375"/>
            <a:ext cx="5054321" cy="14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4"/>
          <p:cNvSpPr txBox="1"/>
          <p:nvPr/>
        </p:nvSpPr>
        <p:spPr>
          <a:xfrm>
            <a:off x="5519950" y="4095600"/>
            <a:ext cx="32652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highlight>
                  <a:schemeClr val="accent4"/>
                </a:highlight>
                <a:latin typeface="Calibri"/>
                <a:ea typeface="Calibri"/>
                <a:cs typeface="Calibri"/>
                <a:sym typeface="Calibri"/>
              </a:rPr>
              <a:t>•78.6</a:t>
            </a:r>
            <a:endParaRPr sz="2200">
              <a:solidFill>
                <a:schemeClr val="dk2"/>
              </a:solidFill>
              <a:highlight>
                <a:schemeClr val="accent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Rates</a:t>
            </a:r>
            <a:endParaRPr/>
          </a:p>
        </p:txBody>
      </p:sp>
      <p:sp>
        <p:nvSpPr>
          <p:cNvPr id="238" name="Google Shape;238;p3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Assignment: understanding rates</a:t>
            </a:r>
            <a:endParaRPr/>
          </a:p>
          <a:p>
            <a:pPr marL="0" lvl="0" indent="0" algn="ctr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Solve the problems in #1 using the coding</a:t>
            </a:r>
            <a:endParaRPr/>
          </a:p>
        </p:txBody>
      </p:sp>
      <p:pic>
        <p:nvPicPr>
          <p:cNvPr id="239" name="Google Shape;239;p35" descr="This 10-minute countdown timer is made for professional use and has some minimal sound effects in the last 5 seconds." title="10 MINUTE TIMER - COUNTDOWN TIMER (MINIMAL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0775" y="203700"/>
            <a:ext cx="30480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5"/>
          <p:cNvPicPr preferRelativeResize="0"/>
          <p:nvPr/>
        </p:nvPicPr>
        <p:blipFill rotWithShape="1">
          <a:blip r:embed="rId5">
            <a:alphaModFix/>
          </a:blip>
          <a:srcRect l="2270" t="58212" r="8356" b="13732"/>
          <a:stretch/>
        </p:blipFill>
        <p:spPr>
          <a:xfrm>
            <a:off x="48675" y="178775"/>
            <a:ext cx="5054321" cy="14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Rates</a:t>
            </a:r>
            <a:endParaRPr/>
          </a:p>
        </p:txBody>
      </p:sp>
      <p:sp>
        <p:nvSpPr>
          <p:cNvPr id="246" name="Google Shape;246;p3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Assignment: Compute distances from rates</a:t>
            </a:r>
            <a:endParaRPr/>
          </a:p>
          <a:p>
            <a:pPr marL="0" lvl="0" indent="0" algn="ctr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Solve the problems in #2 using the coding</a:t>
            </a:r>
            <a:endParaRPr/>
          </a:p>
        </p:txBody>
      </p:sp>
      <p:pic>
        <p:nvPicPr>
          <p:cNvPr id="247" name="Google Shape;247;p36" descr="This 10-minute countdown timer is made for professional use and has some minimal sound effects in the last 5 seconds." title="10 MINUTE TIMER - COUNTDOWN TIMER (MINIMAL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0775" y="203700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Rates</a:t>
            </a:r>
            <a:endParaRPr/>
          </a:p>
        </p:txBody>
      </p:sp>
      <p:sp>
        <p:nvSpPr>
          <p:cNvPr id="253" name="Google Shape;253;p3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Assignment: Compute times from rates</a:t>
            </a:r>
            <a:endParaRPr/>
          </a:p>
          <a:p>
            <a:pPr marL="0" lvl="0" indent="0" algn="ctr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Solve the problems in #3 using the coding</a:t>
            </a:r>
            <a:endParaRPr/>
          </a:p>
        </p:txBody>
      </p:sp>
      <p:pic>
        <p:nvPicPr>
          <p:cNvPr id="254" name="Google Shape;254;p37" descr="This 10-minute countdown timer is made for professional use and has some minimal sound effects in the last 5 seconds." title="10 MINUTE TIMER - COUNTDOWN TIMER (MINIMAL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0775" y="203700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Lists</a:t>
            </a:r>
            <a:endParaRPr/>
          </a:p>
        </p:txBody>
      </p:sp>
      <p:sp>
        <p:nvSpPr>
          <p:cNvPr id="260" name="Google Shape;260;p3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Assignment: Print a list</a:t>
            </a:r>
            <a:endParaRPr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Assignment: Print a list of strings</a:t>
            </a:r>
            <a:endParaRPr/>
          </a:p>
          <a:p>
            <a:pPr marL="0" lvl="0" indent="0" algn="ctr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261" name="Google Shape;261;p38" descr="This 10-minute countdown timer is made for professional use and has some minimal sound effects in the last 5 seconds." title="10 MINUTE TIMER - COUNTDOWN TIMER (MINIMAL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0775" y="203700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" name="Google Shape;266;p39"/>
          <p:cNvGraphicFramePr/>
          <p:nvPr/>
        </p:nvGraphicFramePr>
        <p:xfrm>
          <a:off x="135600" y="515475"/>
          <a:ext cx="8658000" cy="4023330"/>
        </p:xfrm>
        <a:graphic>
          <a:graphicData uri="http://schemas.openxmlformats.org/drawingml/2006/table">
            <a:tbl>
              <a:tblPr>
                <a:noFill/>
                <a:tableStyleId>{176580D9-9CCD-4062-B559-2694365C4B3B}</a:tableStyleId>
              </a:tblPr>
              <a:tblGrid>
                <a:gridCol w="43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4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Things I learned about coding:</a:t>
                      </a:r>
                      <a:endParaRPr sz="2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Things I learned about Math (distance, rate, time, equations)</a:t>
                      </a:r>
                      <a:endParaRPr sz="2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7" name="Google Shape;267;p39"/>
          <p:cNvSpPr txBox="1"/>
          <p:nvPr/>
        </p:nvSpPr>
        <p:spPr>
          <a:xfrm>
            <a:off x="76200" y="-76200"/>
            <a:ext cx="5452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dk1"/>
                </a:solidFill>
              </a:rPr>
              <a:t>Name:                                  Date: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289</Words>
  <Application>Microsoft Macintosh PowerPoint</Application>
  <PresentationFormat>On-screen Show (16:9)</PresentationFormat>
  <Paragraphs>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Nunito</vt:lpstr>
      <vt:lpstr>Calibri</vt:lpstr>
      <vt:lpstr>Simple Light</vt:lpstr>
      <vt:lpstr>Shift</vt:lpstr>
      <vt:lpstr>Coding groups</vt:lpstr>
      <vt:lpstr>Welcome to Coding week!   Be Leaders, co facilitators  Be determined   Be diverse  Show teamwork! = share the trackpad and the keyboard, everyone tries! </vt:lpstr>
      <vt:lpstr>Be respectful  Be on task   Everything is recorded! </vt:lpstr>
      <vt:lpstr>Introduction to Variables</vt:lpstr>
      <vt:lpstr>Strings</vt:lpstr>
      <vt:lpstr>Video interpretation  Complete the front and back questions on the handout for the example video  Pay attention to the mathematical thinking that is behind the video!   </vt:lpstr>
      <vt:lpstr>Computing Rates</vt:lpstr>
      <vt:lpstr>Computing Rates</vt:lpstr>
      <vt:lpstr>Computing Rates</vt:lpstr>
      <vt:lpstr>Computing Rates</vt:lpstr>
      <vt:lpstr>Working with Lists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Microsoft Office User</cp:lastModifiedBy>
  <cp:revision>2</cp:revision>
  <dcterms:modified xsi:type="dcterms:W3CDTF">2026-07-22T17:29:37Z</dcterms:modified>
</cp:coreProperties>
</file>